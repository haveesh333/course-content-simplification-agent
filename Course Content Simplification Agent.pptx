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1"/>
  </p:notesMasterIdLst>
  <p:sldIdLst>
    <p:sldId id="290" r:id="rId2"/>
    <p:sldId id="291" r:id="rId3"/>
    <p:sldId id="292" r:id="rId4"/>
    <p:sldId id="293" r:id="rId5"/>
    <p:sldId id="294" r:id="rId6"/>
    <p:sldId id="295" r:id="rId7"/>
    <p:sldId id="296" r:id="rId8"/>
    <p:sldId id="297" r:id="rId9"/>
    <p:sldId id="299" r:id="rId10"/>
    <p:sldId id="301" r:id="rId11"/>
    <p:sldId id="302" r:id="rId12"/>
    <p:sldId id="303" r:id="rId13"/>
    <p:sldId id="310" r:id="rId14"/>
    <p:sldId id="304" r:id="rId15"/>
    <p:sldId id="305" r:id="rId16"/>
    <p:sldId id="306" r:id="rId17"/>
    <p:sldId id="307" r:id="rId18"/>
    <p:sldId id="308" r:id="rId19"/>
    <p:sldId id="309" r:id="rId2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97DED7-87E9-8FFE-C42B-07F44890EE69}" v="36" dt="2026-07-14T12:42:56.737"/>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48" d="100"/>
          <a:sy n="48" d="100"/>
        </p:scale>
        <p:origin x="53" y="111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039F323A-1018-C5CD-F732-92A397BB88AC}"/>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C0C209F-DA61-C27F-F5AF-6B64FDB9BFB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D506704E-BB6A-64C7-C115-976796F31AF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276673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IBM Bob”</a:t>
            </a:r>
            <a:endParaRPr lang="en-IN"/>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698458306"/>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ctr" rtl="0">
                        <a:spcBef>
                          <a:spcPts val="0"/>
                        </a:spcBef>
                        <a:spcAft>
                          <a:spcPts val="0"/>
                        </a:spcAft>
                        <a:buNone/>
                      </a:pPr>
                      <a:r>
                        <a:rPr lang="en-IN" dirty="0"/>
                        <a:t>Haveesh Chowdary Kante</a:t>
                      </a:r>
                      <a:endParaRPr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endParaRPr sz="180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r>
                        <a:rPr lang="en-IN" dirty="0"/>
                        <a:t>haveeshchowdarykante@gmail.com</a:t>
                      </a:r>
                      <a:endParaRPr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r>
                        <a:rPr lang="en-IN" dirty="0"/>
                        <a:t>9014721567</a:t>
                      </a:r>
                      <a:endParaRPr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a:t>
            </a:r>
            <a:r>
              <a:rPr lang="en-US" sz="2400" b="1" dirty="0">
                <a:highlight>
                  <a:srgbClr val="FFFF00"/>
                </a:highlight>
              </a:rPr>
              <a:t> Education</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IN" sz="2400" dirty="0"/>
              <a:t>Course Content Simplification Agent</a:t>
            </a:r>
            <a:endParaRPr lang="en-IN" sz="2400" b="1" dirty="0">
              <a:highlight>
                <a:srgbClr val="FFFF00"/>
              </a:highlight>
            </a:endParaRPr>
          </a:p>
        </p:txBody>
      </p:sp>
      <p:sp>
        <p:nvSpPr>
          <p:cNvPr id="3" name="TextBox 2">
            <a:extLst>
              <a:ext uri="{FF2B5EF4-FFF2-40B4-BE49-F238E27FC236}">
                <a16:creationId xmlns:a16="http://schemas.microsoft.com/office/drawing/2014/main" id="{B0B023FA-CFEB-ACE9-8425-7E72E307CDC5}"/>
              </a:ext>
            </a:extLst>
          </p:cNvPr>
          <p:cNvSpPr txBox="1"/>
          <p:nvPr/>
        </p:nvSpPr>
        <p:spPr>
          <a:xfrm>
            <a:off x="1211005" y="5210667"/>
            <a:ext cx="645674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FF0000"/>
                </a:solidFill>
              </a:rPr>
              <a:t>Recommended font style and size:</a:t>
            </a:r>
            <a:br>
              <a:rPr lang="en-US" sz="2000">
                <a:solidFill>
                  <a:srgbClr val="FF0000"/>
                </a:solidFill>
              </a:rPr>
            </a:br>
            <a:br>
              <a:rPr lang="en-US" sz="2000"/>
            </a:br>
            <a:r>
              <a:rPr lang="en-US" sz="2000">
                <a:solidFill>
                  <a:srgbClr val="FF0000"/>
                </a:solidFill>
              </a:rPr>
              <a:t>Font Style: Arial</a:t>
            </a:r>
            <a:br>
              <a:rPr lang="en-US" sz="2000">
                <a:solidFill>
                  <a:srgbClr val="FF0000"/>
                </a:solidFill>
              </a:rPr>
            </a:br>
            <a:r>
              <a:rPr lang="en-US" sz="2000">
                <a:solidFill>
                  <a:srgbClr val="FF0000"/>
                </a:solidFill>
              </a:rPr>
              <a:t>Font Size (Heading): 28</a:t>
            </a:r>
          </a:p>
          <a:p>
            <a:r>
              <a:rPr lang="en-US" sz="2000">
                <a:solidFill>
                  <a:srgbClr val="FF0000"/>
                </a:solidFill>
              </a:rPr>
              <a:t>Font Size (Content): 20</a:t>
            </a:r>
          </a:p>
        </p:txBody>
      </p:sp>
      <p:pic>
        <p:nvPicPr>
          <p:cNvPr id="5" name="Picture 4">
            <a:extLst>
              <a:ext uri="{FF2B5EF4-FFF2-40B4-BE49-F238E27FC236}">
                <a16:creationId xmlns:a16="http://schemas.microsoft.com/office/drawing/2014/main" id="{1D1D3083-5936-D15D-AE61-176060D81C2B}"/>
              </a:ext>
            </a:extLst>
          </p:cNvPr>
          <p:cNvPicPr>
            <a:picLocks noChangeAspect="1"/>
          </p:cNvPicPr>
          <p:nvPr/>
        </p:nvPicPr>
        <p:blipFill>
          <a:blip r:embed="rId3"/>
          <a:stretch>
            <a:fillRect/>
          </a:stretch>
        </p:blipFill>
        <p:spPr>
          <a:xfrm>
            <a:off x="4167891" y="3712049"/>
            <a:ext cx="647633" cy="840575"/>
          </a:xfrm>
          <a:prstGeom prst="rect">
            <a:avLst/>
          </a:prstGeom>
        </p:spPr>
      </p:pic>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4616648"/>
          </a:xfrm>
          <a:prstGeom prst="rect">
            <a:avLst/>
          </a:prstGeom>
          <a:noFill/>
        </p:spPr>
        <p:txBody>
          <a:bodyPr wrap="square" rtlCol="0">
            <a:spAutoFit/>
          </a:bodyPr>
          <a:lstStyle/>
          <a:p>
            <a:pPr fontAlgn="base"/>
            <a:r>
              <a:rPr lang="en-US" b="1" dirty="0"/>
              <a:t>Problem Statement : </a:t>
            </a:r>
            <a:r>
              <a:rPr lang="en-IN" b="1" dirty="0"/>
              <a:t>Course Content Simplification </a:t>
            </a:r>
            <a:r>
              <a:rPr lang="en-US" b="1" dirty="0"/>
              <a:t>Agent </a:t>
            </a:r>
          </a:p>
          <a:p>
            <a:pPr fontAlgn="base"/>
            <a:endParaRPr lang="en-US" b="1" dirty="0"/>
          </a:p>
          <a:p>
            <a:pPr fontAlgn="base"/>
            <a:r>
              <a:rPr lang="en-US" b="1" dirty="0"/>
              <a:t>The Challenge</a:t>
            </a:r>
            <a:r>
              <a:rPr lang="en-US" dirty="0"/>
              <a:t> </a:t>
            </a:r>
          </a:p>
          <a:p>
            <a:r>
              <a:rPr lang="en-IN" dirty="0"/>
              <a:t>Educational materials often vary in complexity and may not be accessible to students with different levels of prior knowledge. Students may struggle to understand key concepts because of </a:t>
            </a:r>
            <a:r>
              <a:rPr lang="en-IN" b="1" dirty="0"/>
              <a:t>jargon-heavy or overly advanced explanations</a:t>
            </a:r>
            <a:r>
              <a:rPr lang="en-IN" dirty="0"/>
              <a:t> in faculty notes and textbooks.</a:t>
            </a:r>
          </a:p>
          <a:p>
            <a:r>
              <a:rPr lang="en-IN" dirty="0"/>
              <a:t>The challenge is to develop an </a:t>
            </a:r>
            <a:r>
              <a:rPr lang="en-IN" b="1" dirty="0"/>
              <a:t>AI-powered Course Content Simplification Agent</a:t>
            </a:r>
            <a:r>
              <a:rPr lang="en-IN" dirty="0"/>
              <a:t> that </a:t>
            </a:r>
            <a:r>
              <a:rPr lang="en-IN" dirty="0" err="1"/>
              <a:t>analyzes</a:t>
            </a:r>
            <a:r>
              <a:rPr lang="en-IN" dirty="0"/>
              <a:t> academic content and </a:t>
            </a:r>
            <a:r>
              <a:rPr lang="en-IN" b="1" dirty="0"/>
              <a:t>reframes explanations based on the learner's proficiency</a:t>
            </a:r>
            <a:r>
              <a:rPr lang="en-IN" dirty="0"/>
              <a:t>, ranging from beginner to expert. This supports </a:t>
            </a:r>
            <a:r>
              <a:rPr lang="en-IN" b="1" dirty="0"/>
              <a:t>inclusive learning and personalized education</a:t>
            </a:r>
            <a:r>
              <a:rPr lang="en-IN" dirty="0"/>
              <a:t>.</a:t>
            </a:r>
            <a:r>
              <a:rPr lang="en-US" dirty="0"/>
              <a:t> </a:t>
            </a:r>
          </a:p>
          <a:p>
            <a:pPr fontAlgn="base"/>
            <a:endParaRPr lang="en-US" dirty="0"/>
          </a:p>
          <a:p>
            <a:pPr fontAlgn="base"/>
            <a:r>
              <a:rPr lang="en-US" b="1" dirty="0"/>
              <a:t>The Objective</a:t>
            </a:r>
            <a:r>
              <a:rPr lang="en-US" dirty="0"/>
              <a:t> </a:t>
            </a:r>
          </a:p>
          <a:p>
            <a:pPr fontAlgn="base"/>
            <a:r>
              <a:rPr lang="en-IN" dirty="0"/>
              <a:t>Build an </a:t>
            </a:r>
            <a:r>
              <a:rPr lang="en-IN" b="1" dirty="0"/>
              <a:t>AI-powered Course Content Simplification Agent</a:t>
            </a:r>
            <a:r>
              <a:rPr lang="en-IN" dirty="0"/>
              <a:t> that provides </a:t>
            </a:r>
            <a:r>
              <a:rPr lang="en-IN" b="1" dirty="0"/>
              <a:t>personalized and easy-to-understand explanations</a:t>
            </a:r>
            <a:r>
              <a:rPr lang="en-IN" dirty="0"/>
              <a:t> based on the student's learning level. The solution should</a:t>
            </a:r>
            <a:r>
              <a:rPr lang="en-US" dirty="0"/>
              <a:t>: </a:t>
            </a:r>
          </a:p>
          <a:p>
            <a:pPr marL="285750" indent="-285750" fontAlgn="base">
              <a:buFont typeface="Arial" panose="020B0604020202020204" pitchFamily="34" charset="0"/>
              <a:buChar char="•"/>
            </a:pPr>
            <a:r>
              <a:rPr lang="en-IN" b="1" dirty="0"/>
              <a:t>Content Simplification</a:t>
            </a:r>
            <a:r>
              <a:rPr lang="en-IN" dirty="0"/>
              <a:t> – Convert complex academic content into easy-to-understand explanations</a:t>
            </a:r>
            <a:r>
              <a:rPr lang="en-US" dirty="0"/>
              <a:t>. </a:t>
            </a:r>
          </a:p>
          <a:p>
            <a:pPr marL="285750" indent="-285750" fontAlgn="base">
              <a:buFont typeface="Arial" panose="020B0604020202020204" pitchFamily="34" charset="0"/>
              <a:buChar char="•"/>
            </a:pPr>
            <a:r>
              <a:rPr lang="en-IN" b="1" dirty="0"/>
              <a:t>Learning-Level Adaptation</a:t>
            </a:r>
            <a:r>
              <a:rPr lang="en-IN" dirty="0"/>
              <a:t> – Provide explanations for </a:t>
            </a:r>
            <a:r>
              <a:rPr lang="en-IN" b="1" dirty="0"/>
              <a:t>Beginner, Intermediate, and Advanced</a:t>
            </a:r>
            <a:r>
              <a:rPr lang="en-IN" dirty="0"/>
              <a:t> learners</a:t>
            </a:r>
            <a:r>
              <a:rPr lang="en-US" dirty="0"/>
              <a:t>. </a:t>
            </a:r>
          </a:p>
          <a:p>
            <a:pPr marL="285750" indent="-285750" fontAlgn="base">
              <a:buFont typeface="Arial" panose="020B0604020202020204" pitchFamily="34" charset="0"/>
              <a:buChar char="•"/>
            </a:pPr>
            <a:r>
              <a:rPr lang="en-IN" b="1" dirty="0"/>
              <a:t>Key Points Extraction</a:t>
            </a:r>
            <a:r>
              <a:rPr lang="en-IN" dirty="0"/>
              <a:t> – Identify and present the important concepts from the uploaded content.</a:t>
            </a:r>
          </a:p>
          <a:p>
            <a:pPr marL="285750" indent="-285750" fontAlgn="base">
              <a:buFont typeface="Arial" panose="020B0604020202020204" pitchFamily="34" charset="0"/>
              <a:buChar char="•"/>
            </a:pPr>
            <a:r>
              <a:rPr lang="en-IN" b="1" dirty="0"/>
              <a:t>Difficult Terms</a:t>
            </a:r>
            <a:r>
              <a:rPr lang="en-IN" dirty="0"/>
              <a:t> – Detect complex terms and provide their simple meanings.</a:t>
            </a:r>
          </a:p>
          <a:p>
            <a:pPr marL="285750" indent="-285750" fontAlgn="base">
              <a:buFont typeface="Arial" panose="020B0604020202020204" pitchFamily="34" charset="0"/>
              <a:buChar char="•"/>
            </a:pPr>
            <a:r>
              <a:rPr lang="en-IN" b="1" dirty="0"/>
              <a:t>Examples</a:t>
            </a:r>
            <a:r>
              <a:rPr lang="en-IN" dirty="0"/>
              <a:t> – Generate relevant examples to improve understanding.</a:t>
            </a:r>
          </a:p>
          <a:p>
            <a:pPr marL="285750" indent="-285750" fontAlgn="base">
              <a:buFont typeface="Arial" panose="020B0604020202020204" pitchFamily="34" charset="0"/>
              <a:buChar char="•"/>
            </a:pPr>
            <a:r>
              <a:rPr lang="en-IN" b="1" dirty="0"/>
              <a:t>AI-Generated Quiz</a:t>
            </a:r>
            <a:r>
              <a:rPr lang="en-IN" dirty="0"/>
              <a:t> – Create </a:t>
            </a:r>
            <a:r>
              <a:rPr lang="en-IN" b="1" dirty="0"/>
              <a:t>5 MCQs</a:t>
            </a:r>
            <a:r>
              <a:rPr lang="en-IN" dirty="0"/>
              <a:t> based on the provided course content with automatic grading. </a:t>
            </a:r>
            <a:endParaRPr lang="en-US" dirty="0"/>
          </a:p>
          <a:p>
            <a:pPr marL="285750" indent="-285750" fontAlgn="base">
              <a:buFont typeface="Arial" panose="020B0604020202020204" pitchFamily="34" charset="0"/>
              <a:buChar char="•"/>
            </a:pPr>
            <a:r>
              <a:rPr lang="en-IN" b="1" dirty="0"/>
              <a:t>Multiple Input Formats</a:t>
            </a:r>
            <a:r>
              <a:rPr lang="en-IN" dirty="0"/>
              <a:t> – Accept academic content through </a:t>
            </a:r>
            <a:r>
              <a:rPr lang="en-IN" b="1" dirty="0"/>
              <a:t>PDF or TXT files and pasted text</a:t>
            </a:r>
            <a:r>
              <a:rPr lang="en-IN" dirty="0"/>
              <a:t>.</a:t>
            </a:r>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4616648"/>
          </a:xfrm>
          <a:prstGeom prst="rect">
            <a:avLst/>
          </a:prstGeom>
          <a:noFill/>
        </p:spPr>
        <p:txBody>
          <a:bodyPr wrap="square" rtlCol="0">
            <a:spAutoFit/>
          </a:bodyPr>
          <a:lstStyle/>
          <a:p>
            <a:r>
              <a:rPr lang="en-IN" dirty="0"/>
              <a:t>The proposed solution is an </a:t>
            </a:r>
            <a:r>
              <a:rPr lang="en-IN" b="1" dirty="0"/>
              <a:t>AI-powered Course Content Simplification Agent</a:t>
            </a:r>
            <a:r>
              <a:rPr lang="en-IN" dirty="0"/>
              <a:t> built using </a:t>
            </a:r>
            <a:r>
              <a:rPr lang="en-IN" b="1" dirty="0"/>
              <a:t>IBM Bob, IBM watsonx.ai, and IBM Granite Models</a:t>
            </a:r>
            <a:r>
              <a:rPr lang="en-IN" dirty="0"/>
              <a:t> to make complex academic content easier to understand for students with different levels of prior knowledge.</a:t>
            </a:r>
          </a:p>
          <a:p>
            <a:r>
              <a:rPr lang="en-IN" dirty="0"/>
              <a:t>The system allows students to </a:t>
            </a:r>
            <a:r>
              <a:rPr lang="en-IN" b="1" dirty="0"/>
              <a:t>upload PDF/TXT course materials or paste academic text</a:t>
            </a:r>
            <a:r>
              <a:rPr lang="en-IN" dirty="0"/>
              <a:t> and select their learning level as </a:t>
            </a:r>
            <a:r>
              <a:rPr lang="en-IN" b="1" dirty="0"/>
              <a:t>Beginner, Intermediate, or Advanced</a:t>
            </a:r>
            <a:r>
              <a:rPr lang="en-IN" dirty="0"/>
              <a:t>. Based on the selected level, the agent </a:t>
            </a:r>
            <a:r>
              <a:rPr lang="en-IN" dirty="0" err="1"/>
              <a:t>analyzes</a:t>
            </a:r>
            <a:r>
              <a:rPr lang="en-IN" dirty="0"/>
              <a:t> the content and generates an appropriate explanation.</a:t>
            </a:r>
          </a:p>
          <a:p>
            <a:r>
              <a:rPr lang="en-IN" dirty="0"/>
              <a:t>At its core, the solution uses </a:t>
            </a:r>
            <a:r>
              <a:rPr lang="en-IN" b="1" dirty="0"/>
              <a:t>IBM Granite models</a:t>
            </a:r>
            <a:r>
              <a:rPr lang="en-IN" dirty="0"/>
              <a:t> to understand and simplify academic content while maintaining the important concepts and meaning of the original material.</a:t>
            </a:r>
          </a:p>
          <a:p>
            <a:r>
              <a:rPr lang="en-IN" dirty="0"/>
              <a:t>The system provides the following key features:</a:t>
            </a:r>
          </a:p>
          <a:p>
            <a:r>
              <a:rPr lang="en-IN" b="1" dirty="0"/>
              <a:t>Content Simplification</a:t>
            </a:r>
            <a:r>
              <a:rPr lang="en-IN" dirty="0"/>
              <a:t> – Converts complex or jargon-heavy academic content into clear and easy-to-understand explanations.</a:t>
            </a:r>
          </a:p>
          <a:p>
            <a:r>
              <a:rPr lang="en-IN" b="1" dirty="0"/>
              <a:t>Learning-Level Adaptation</a:t>
            </a:r>
            <a:r>
              <a:rPr lang="en-IN" dirty="0"/>
              <a:t> – Adjusts the explanation according to the learner's proficiency, from beginner to advanced.</a:t>
            </a:r>
          </a:p>
          <a:p>
            <a:r>
              <a:rPr lang="en-IN" b="1" dirty="0"/>
              <a:t>Key Points Extraction</a:t>
            </a:r>
            <a:r>
              <a:rPr lang="en-IN" dirty="0"/>
              <a:t> – Identifies and presents the most important concepts from the provided course material.</a:t>
            </a:r>
          </a:p>
          <a:p>
            <a:r>
              <a:rPr lang="en-IN" b="1" dirty="0"/>
              <a:t>Difficult Terms</a:t>
            </a:r>
            <a:r>
              <a:rPr lang="en-IN" dirty="0"/>
              <a:t> – Detects difficult academic terms and provides their simple meanings.</a:t>
            </a:r>
          </a:p>
          <a:p>
            <a:r>
              <a:rPr lang="en-IN" b="1" dirty="0"/>
              <a:t>Relevant Examples</a:t>
            </a:r>
            <a:r>
              <a:rPr lang="en-IN" dirty="0"/>
              <a:t> – Generates examples to help students understand difficult concepts more easily.</a:t>
            </a:r>
          </a:p>
          <a:p>
            <a:r>
              <a:rPr lang="en-IN" b="1" dirty="0"/>
              <a:t>AI-Generated Quiz</a:t>
            </a:r>
            <a:r>
              <a:rPr lang="en-IN" dirty="0"/>
              <a:t> – Creates </a:t>
            </a:r>
            <a:r>
              <a:rPr lang="en-IN" b="1" dirty="0"/>
              <a:t>5 multiple-choice questions</a:t>
            </a:r>
            <a:r>
              <a:rPr lang="en-IN" dirty="0"/>
              <a:t> based only on the provided content and automatically evaluates the student's answers.</a:t>
            </a:r>
          </a:p>
          <a:p>
            <a:r>
              <a:rPr lang="en-IN" dirty="0"/>
              <a:t>The solution includes a </a:t>
            </a:r>
            <a:r>
              <a:rPr lang="en-IN" b="1" dirty="0"/>
              <a:t>user-friendly web dashboard</a:t>
            </a:r>
            <a:r>
              <a:rPr lang="en-IN" dirty="0"/>
              <a:t> built using </a:t>
            </a:r>
            <a:r>
              <a:rPr lang="en-IN" b="1" dirty="0"/>
              <a:t>React and TypeScript</a:t>
            </a:r>
            <a:r>
              <a:rPr lang="en-IN" dirty="0"/>
              <a:t>, with a </a:t>
            </a:r>
            <a:r>
              <a:rPr lang="en-IN" b="1" dirty="0"/>
              <a:t>Python </a:t>
            </a:r>
            <a:r>
              <a:rPr lang="en-IN" b="1" dirty="0" err="1"/>
              <a:t>FastAPI</a:t>
            </a:r>
            <a:r>
              <a:rPr lang="en-IN" b="1" dirty="0"/>
              <a:t> backend</a:t>
            </a:r>
            <a:r>
              <a:rPr lang="en-IN" dirty="0"/>
              <a:t> for document processing and AI interaction.</a:t>
            </a:r>
          </a:p>
          <a:p>
            <a:r>
              <a:rPr lang="en-IN" b="1" dirty="0"/>
              <a:t>IBM Bob</a:t>
            </a:r>
            <a:r>
              <a:rPr lang="en-IN" dirty="0"/>
              <a:t> is used as the primary development environment, while </a:t>
            </a:r>
            <a:r>
              <a:rPr lang="en-IN" b="1" dirty="0"/>
              <a:t>IBM watsonx.ai and Granite models</a:t>
            </a:r>
            <a:r>
              <a:rPr lang="en-IN" dirty="0"/>
              <a:t> provide the AI capabilities required for content analysis, simplification, summarization, and quiz generation.</a:t>
            </a:r>
          </a:p>
          <a:p>
            <a:r>
              <a:rPr lang="en-IN" dirty="0"/>
              <a:t>Overall, the solution provides an </a:t>
            </a:r>
            <a:r>
              <a:rPr lang="en-IN" b="1" dirty="0"/>
              <a:t>end-to-end personalized learning assistant</a:t>
            </a:r>
            <a:r>
              <a:rPr lang="en-IN" dirty="0"/>
              <a:t> that helps students understand complex academic materials according to their learning level, supporting </a:t>
            </a:r>
            <a:r>
              <a:rPr lang="en-IN" b="1" dirty="0"/>
              <a:t>inclusive and personalized education</a:t>
            </a:r>
            <a:r>
              <a:rPr lang="en-IN" dirty="0"/>
              <a:t>.</a:t>
            </a:r>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61945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4524315"/>
          </a:xfrm>
          <a:prstGeom prst="rect">
            <a:avLst/>
          </a:prstGeom>
          <a:noFill/>
        </p:spPr>
        <p:txBody>
          <a:bodyPr wrap="square" rtlCol="0">
            <a:spAutoFit/>
          </a:bodyPr>
          <a:lstStyle/>
          <a:p>
            <a:pPr marL="285750" lvl="0" indent="-285750">
              <a:buFont typeface="Arial" panose="020B0604020202020204" pitchFamily="34" charset="0"/>
              <a:buChar char="•"/>
            </a:pPr>
            <a:r>
              <a:rPr lang="en-IN" sz="1800" b="1" dirty="0"/>
              <a:t>IBM Bob Platform</a:t>
            </a:r>
            <a:r>
              <a:rPr lang="en-IN" sz="1800" dirty="0"/>
              <a:t> – For designing and developing the </a:t>
            </a:r>
            <a:r>
              <a:rPr lang="en-IN" sz="1800" b="1" dirty="0"/>
              <a:t>Course Content Simplification Agent</a:t>
            </a:r>
            <a:r>
              <a:rPr lang="en-IN" sz="1800" dirty="0"/>
              <a:t> and managing the overall application workflow. </a:t>
            </a:r>
          </a:p>
          <a:p>
            <a:pPr marL="285750" lvl="0" indent="-285750">
              <a:buFont typeface="Arial" panose="020B0604020202020204" pitchFamily="34" charset="0"/>
              <a:buChar char="•"/>
            </a:pPr>
            <a:r>
              <a:rPr lang="en-IN" sz="1800" b="1" dirty="0"/>
              <a:t>IBM Granite Model</a:t>
            </a:r>
            <a:r>
              <a:rPr lang="en-IN" sz="1800" dirty="0"/>
              <a:t> – For </a:t>
            </a:r>
            <a:r>
              <a:rPr lang="en-IN" sz="1800" b="1" dirty="0"/>
              <a:t>natural language understanding, content analysis, simplification, summarization, and generating personalized explanations</a:t>
            </a:r>
            <a:r>
              <a:rPr lang="en-IN" sz="1800" dirty="0"/>
              <a:t>. </a:t>
            </a:r>
          </a:p>
          <a:p>
            <a:pPr marL="285750" lvl="0" indent="-285750">
              <a:buFont typeface="Arial" panose="020B0604020202020204" pitchFamily="34" charset="0"/>
              <a:buChar char="•"/>
            </a:pPr>
            <a:r>
              <a:rPr lang="en-IN" sz="1800" b="1" dirty="0"/>
              <a:t>IBM Cloud</a:t>
            </a:r>
            <a:r>
              <a:rPr lang="en-IN" sz="1800" dirty="0"/>
              <a:t> – Provides the </a:t>
            </a:r>
            <a:r>
              <a:rPr lang="en-IN" sz="1800" b="1" dirty="0"/>
              <a:t>infrastructure and environment</a:t>
            </a:r>
            <a:r>
              <a:rPr lang="en-IN" sz="1800" dirty="0"/>
              <a:t> to build, deploy, and scale the AI-powered Course Content Simplification Agent. </a:t>
            </a:r>
          </a:p>
          <a:p>
            <a:pPr marL="285750" lvl="0" indent="-285750">
              <a:buFont typeface="Arial" panose="020B0604020202020204" pitchFamily="34" charset="0"/>
              <a:buChar char="•"/>
            </a:pPr>
            <a:r>
              <a:rPr lang="en-IN" sz="1800" b="1" dirty="0"/>
              <a:t>RAG (Retrieval-Augmented Generation)</a:t>
            </a:r>
            <a:r>
              <a:rPr lang="en-IN" sz="1800" dirty="0"/>
              <a:t> – Used to </a:t>
            </a:r>
            <a:r>
              <a:rPr lang="en-IN" sz="1800" b="1" dirty="0"/>
              <a:t>retrieve relevant information from the provided course content first and then generate accurate, context-based explanations</a:t>
            </a:r>
            <a:r>
              <a:rPr lang="en-IN" sz="1800" dirty="0"/>
              <a:t>. </a:t>
            </a:r>
          </a:p>
          <a:p>
            <a:pPr marL="285750" lvl="0" indent="-285750">
              <a:buFont typeface="Arial" panose="020B0604020202020204" pitchFamily="34" charset="0"/>
              <a:buChar char="•"/>
            </a:pPr>
            <a:r>
              <a:rPr lang="en-IN" sz="1800" b="1" dirty="0"/>
              <a:t>IBM watsonx.ai</a:t>
            </a:r>
            <a:r>
              <a:rPr lang="en-IN" sz="1800" dirty="0"/>
              <a:t> – For </a:t>
            </a:r>
            <a:r>
              <a:rPr lang="en-IN" sz="1800" b="1" dirty="0"/>
              <a:t>AI model integration, deployment, and AI governance</a:t>
            </a:r>
            <a:r>
              <a:rPr lang="en-IN" sz="1800" dirty="0"/>
              <a:t>. </a:t>
            </a:r>
          </a:p>
          <a:p>
            <a:pPr marL="285750" lvl="0" indent="-285750">
              <a:buFont typeface="Arial" panose="020B0604020202020204" pitchFamily="34" charset="0"/>
              <a:buChar char="•"/>
            </a:pPr>
            <a:r>
              <a:rPr lang="en-IN" sz="1800" b="1" dirty="0"/>
              <a:t>Document Processing</a:t>
            </a:r>
            <a:r>
              <a:rPr lang="en-IN" sz="1800" dirty="0"/>
              <a:t> – Used to </a:t>
            </a:r>
            <a:r>
              <a:rPr lang="en-IN" sz="1800" b="1" dirty="0"/>
              <a:t>extract text from uploaded PDF and TXT course materials</a:t>
            </a:r>
            <a:r>
              <a:rPr lang="en-IN" sz="1800" dirty="0"/>
              <a:t> before sending the content to the AI model. </a:t>
            </a:r>
          </a:p>
          <a:p>
            <a:pPr marL="285750" lvl="0" indent="-285750">
              <a:buFont typeface="Arial" panose="020B0604020202020204" pitchFamily="34" charset="0"/>
              <a:buChar char="•"/>
            </a:pPr>
            <a:r>
              <a:rPr lang="en-IN" sz="1800" b="1" dirty="0"/>
              <a:t>React + TypeScript</a:t>
            </a:r>
            <a:r>
              <a:rPr lang="en-IN" sz="1800" dirty="0"/>
              <a:t> – For building the </a:t>
            </a:r>
            <a:r>
              <a:rPr lang="en-IN" sz="1800" b="1" dirty="0"/>
              <a:t>user-friendly web interface</a:t>
            </a:r>
            <a:r>
              <a:rPr lang="en-IN" sz="1800" dirty="0"/>
              <a:t> where students upload content, select their learning level, view simplified explanations, and take quizzes. </a:t>
            </a:r>
          </a:p>
          <a:p>
            <a:pPr marL="285750" lvl="0" indent="-285750">
              <a:buFont typeface="Arial" panose="020B0604020202020204" pitchFamily="34" charset="0"/>
              <a:buChar char="•"/>
            </a:pPr>
            <a:r>
              <a:rPr lang="en-IN" sz="1800" b="1" dirty="0"/>
              <a:t>Python + </a:t>
            </a:r>
            <a:r>
              <a:rPr lang="en-IN" sz="1800" b="1" dirty="0" err="1"/>
              <a:t>FastAPI</a:t>
            </a:r>
            <a:r>
              <a:rPr lang="en-IN" sz="1800" dirty="0"/>
              <a:t> – For the </a:t>
            </a:r>
            <a:r>
              <a:rPr lang="en-IN" sz="1800" b="1" dirty="0"/>
              <a:t>backend API</a:t>
            </a:r>
            <a:r>
              <a:rPr lang="en-IN" sz="1800" dirty="0"/>
              <a:t>, document processing, AI model communication, and quiz generation.</a:t>
            </a:r>
            <a:endParaRPr lang="en-US" sz="1800" dirty="0"/>
          </a:p>
          <a:p>
            <a:endParaRPr lang="en-IN" sz="1800" dirty="0"/>
          </a:p>
        </p:txBody>
      </p:sp>
    </p:spTree>
    <p:extLst>
      <p:ext uri="{BB962C8B-B14F-4D97-AF65-F5344CB8AC3E}">
        <p14:creationId xmlns:p14="http://schemas.microsoft.com/office/powerpoint/2010/main" val="443603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a:sym typeface="Times New Roman"/>
              </a:rPr>
              <a:t>Required Files created using IBM bob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2677656"/>
          </a:xfrm>
          <a:prstGeom prst="rect">
            <a:avLst/>
          </a:prstGeom>
          <a:noFill/>
        </p:spPr>
        <p:txBody>
          <a:bodyPr wrap="square" rtlCol="0">
            <a:spAutoFit/>
          </a:bodyPr>
          <a:lstStyle/>
          <a:p>
            <a:pPr marL="342900" lvl="0" indent="-342900">
              <a:buFont typeface="+mj-lt"/>
              <a:buAutoNum type="arabicParenR"/>
            </a:pPr>
            <a:r>
              <a:rPr lang="en-IN" b="1" dirty="0"/>
              <a:t>main.py</a:t>
            </a:r>
            <a:r>
              <a:rPr lang="en-IN" dirty="0"/>
              <a:t> – </a:t>
            </a:r>
            <a:r>
              <a:rPr lang="en-IN" dirty="0" err="1"/>
              <a:t>FastAPI</a:t>
            </a:r>
            <a:r>
              <a:rPr lang="en-IN" dirty="0"/>
              <a:t> backend </a:t>
            </a:r>
          </a:p>
          <a:p>
            <a:pPr marL="342900" lvl="0" indent="-342900">
              <a:buFont typeface="+mj-lt"/>
              <a:buAutoNum type="arabicParenR"/>
            </a:pPr>
            <a:r>
              <a:rPr lang="en-IN" b="1" dirty="0"/>
              <a:t>requirements.txt</a:t>
            </a:r>
            <a:r>
              <a:rPr lang="en-IN" dirty="0"/>
              <a:t> – Python dependencies </a:t>
            </a:r>
          </a:p>
          <a:p>
            <a:pPr marL="342900" lvl="0" indent="-342900">
              <a:buFont typeface="+mj-lt"/>
              <a:buAutoNum type="arabicParenR"/>
            </a:pPr>
            <a:r>
              <a:rPr lang="en-IN" b="1" dirty="0"/>
              <a:t>schemas.py</a:t>
            </a:r>
            <a:r>
              <a:rPr lang="en-IN" dirty="0"/>
              <a:t> – Data models </a:t>
            </a:r>
          </a:p>
          <a:p>
            <a:pPr marL="342900" lvl="0" indent="-342900">
              <a:buFont typeface="+mj-lt"/>
              <a:buAutoNum type="arabicParenR"/>
            </a:pPr>
            <a:r>
              <a:rPr lang="en-IN" b="1" dirty="0"/>
              <a:t>simplify.py</a:t>
            </a:r>
            <a:r>
              <a:rPr lang="en-IN" dirty="0"/>
              <a:t> – Simplification API </a:t>
            </a:r>
          </a:p>
          <a:p>
            <a:pPr marL="342900" lvl="0" indent="-342900">
              <a:buFont typeface="+mj-lt"/>
              <a:buAutoNum type="arabicParenR"/>
            </a:pPr>
            <a:r>
              <a:rPr lang="en-IN" b="1" dirty="0"/>
              <a:t>document_parser.py</a:t>
            </a:r>
            <a:r>
              <a:rPr lang="en-IN" dirty="0"/>
              <a:t> – PDF/TXT processing </a:t>
            </a:r>
          </a:p>
          <a:p>
            <a:pPr marL="342900" lvl="0" indent="-342900">
              <a:buFont typeface="+mj-lt"/>
              <a:buAutoNum type="arabicParenR"/>
            </a:pPr>
            <a:r>
              <a:rPr lang="en-IN" b="1" dirty="0"/>
              <a:t>prompt_builder.py</a:t>
            </a:r>
            <a:r>
              <a:rPr lang="en-IN" dirty="0"/>
              <a:t> – Level-based prompts </a:t>
            </a:r>
          </a:p>
          <a:p>
            <a:pPr marL="342900" lvl="0" indent="-342900">
              <a:buFont typeface="+mj-lt"/>
              <a:buAutoNum type="arabicParenR"/>
            </a:pPr>
            <a:r>
              <a:rPr lang="en-IN" b="1" dirty="0"/>
              <a:t>granite_service.py</a:t>
            </a:r>
            <a:r>
              <a:rPr lang="en-IN" dirty="0"/>
              <a:t> – IBM Granite integration </a:t>
            </a:r>
          </a:p>
          <a:p>
            <a:pPr marL="342900" lvl="0" indent="-342900">
              <a:buFont typeface="+mj-lt"/>
              <a:buAutoNum type="arabicParenR"/>
            </a:pPr>
            <a:r>
              <a:rPr lang="en-IN" b="1" dirty="0" err="1"/>
              <a:t>App.tsx</a:t>
            </a:r>
            <a:r>
              <a:rPr lang="en-IN" dirty="0"/>
              <a:t> – React frontend </a:t>
            </a:r>
          </a:p>
          <a:p>
            <a:pPr marL="342900" lvl="0" indent="-342900">
              <a:buFont typeface="+mj-lt"/>
              <a:buAutoNum type="arabicParenR"/>
            </a:pPr>
            <a:r>
              <a:rPr lang="en-IN" b="1" dirty="0" err="1"/>
              <a:t>UploadArea.tsx</a:t>
            </a:r>
            <a:r>
              <a:rPr lang="en-IN" dirty="0"/>
              <a:t> – Content upload </a:t>
            </a:r>
          </a:p>
          <a:p>
            <a:pPr marL="342900" lvl="0" indent="-342900">
              <a:buFont typeface="+mj-lt"/>
              <a:buAutoNum type="arabicParenR"/>
            </a:pPr>
            <a:r>
              <a:rPr lang="en-IN" b="1" dirty="0" err="1"/>
              <a:t>QuizPanel.tsx</a:t>
            </a:r>
            <a:r>
              <a:rPr lang="en-IN" dirty="0"/>
              <a:t> – MCQ and auto-grading </a:t>
            </a:r>
          </a:p>
          <a:p>
            <a:pPr marL="342900" lvl="0" indent="-342900">
              <a:buFont typeface="+mj-lt"/>
              <a:buAutoNum type="arabicParenR"/>
            </a:pPr>
            <a:r>
              <a:rPr lang="en-IN" b="1" dirty="0"/>
              <a:t>App.css</a:t>
            </a:r>
            <a:r>
              <a:rPr lang="en-IN" dirty="0"/>
              <a:t> – User interface styling </a:t>
            </a:r>
          </a:p>
          <a:p>
            <a:pPr marL="342900" lvl="0" indent="-342900">
              <a:buFont typeface="+mj-lt"/>
              <a:buAutoNum type="arabicParenR"/>
            </a:pPr>
            <a:r>
              <a:rPr lang="en-IN" b="1" dirty="0"/>
              <a:t>.env</a:t>
            </a:r>
            <a:r>
              <a:rPr lang="en-IN" dirty="0"/>
              <a:t> – Local API configuration </a:t>
            </a:r>
            <a:r>
              <a:rPr lang="en-IN" i="1" dirty="0"/>
              <a:t>(not uploaded to GitHub)</a:t>
            </a:r>
            <a:endParaRPr lang="en-IN" dirty="0"/>
          </a:p>
        </p:txBody>
      </p:sp>
    </p:spTree>
    <p:extLst>
      <p:ext uri="{BB962C8B-B14F-4D97-AF65-F5344CB8AC3E}">
        <p14:creationId xmlns:p14="http://schemas.microsoft.com/office/powerpoint/2010/main" val="3114963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sz="2400" b="1">
              <a:sym typeface="Times New Roman"/>
            </a:endParaRPr>
          </a:p>
        </p:txBody>
      </p:sp>
      <p:pic>
        <p:nvPicPr>
          <p:cNvPr id="4" name="Picture 3">
            <a:extLst>
              <a:ext uri="{FF2B5EF4-FFF2-40B4-BE49-F238E27FC236}">
                <a16:creationId xmlns:a16="http://schemas.microsoft.com/office/drawing/2014/main" id="{BE77D7EE-CDD3-57CD-9422-D779B784DF88}"/>
              </a:ext>
            </a:extLst>
          </p:cNvPr>
          <p:cNvPicPr>
            <a:picLocks noChangeAspect="1"/>
          </p:cNvPicPr>
          <p:nvPr/>
        </p:nvPicPr>
        <p:blipFill>
          <a:blip r:embed="rId3"/>
          <a:stretch>
            <a:fillRect/>
          </a:stretch>
        </p:blipFill>
        <p:spPr>
          <a:xfrm>
            <a:off x="1860294" y="992764"/>
            <a:ext cx="9172450" cy="5541997"/>
          </a:xfrm>
          <a:prstGeom prst="rect">
            <a:avLst/>
          </a:prstGeom>
        </p:spPr>
      </p:pic>
    </p:spTree>
    <p:extLst>
      <p:ext uri="{BB962C8B-B14F-4D97-AF65-F5344CB8AC3E}">
        <p14:creationId xmlns:p14="http://schemas.microsoft.com/office/powerpoint/2010/main" val="1316545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79329DB-089C-8901-BDC2-55AE6A16F422}"/>
              </a:ext>
            </a:extLst>
          </p:cNvPr>
          <p:cNvPicPr>
            <a:picLocks noChangeAspect="1"/>
          </p:cNvPicPr>
          <p:nvPr/>
        </p:nvPicPr>
        <p:blipFill>
          <a:blip r:embed="rId2"/>
          <a:stretch>
            <a:fillRect/>
          </a:stretch>
        </p:blipFill>
        <p:spPr>
          <a:xfrm>
            <a:off x="969327" y="326014"/>
            <a:ext cx="10253346" cy="6205972"/>
          </a:xfrm>
          <a:prstGeom prst="rect">
            <a:avLst/>
          </a:prstGeom>
        </p:spPr>
      </p:pic>
    </p:spTree>
    <p:extLst>
      <p:ext uri="{BB962C8B-B14F-4D97-AF65-F5344CB8AC3E}">
        <p14:creationId xmlns:p14="http://schemas.microsoft.com/office/powerpoint/2010/main" val="232371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754874"/>
          </a:xfrm>
          <a:prstGeom prst="rect">
            <a:avLst/>
          </a:prstGeom>
          <a:noFill/>
        </p:spPr>
        <p:txBody>
          <a:bodyPr wrap="square" rtlCol="0">
            <a:spAutoFit/>
          </a:bodyPr>
          <a:lstStyle/>
          <a:p>
            <a:r>
              <a:rPr lang="en-IN" b="1" dirty="0"/>
              <a:t>Agentic AI</a:t>
            </a:r>
            <a:r>
              <a:rPr lang="en-IN" dirty="0"/>
              <a:t> enables the Course Content Simplification Agent to function as an intelligent system rather than a simple chatbot. Using </a:t>
            </a:r>
            <a:r>
              <a:rPr lang="en-IN" b="1" dirty="0"/>
              <a:t>IBM watsonx.ai</a:t>
            </a:r>
            <a:r>
              <a:rPr lang="en-IN" dirty="0"/>
              <a:t> and </a:t>
            </a:r>
            <a:r>
              <a:rPr lang="en-IN" b="1" dirty="0"/>
              <a:t>IBM Granite models</a:t>
            </a:r>
            <a:r>
              <a:rPr lang="en-IN" dirty="0"/>
              <a:t>, it </a:t>
            </a:r>
            <a:r>
              <a:rPr lang="en-IN" dirty="0" err="1"/>
              <a:t>analyzes</a:t>
            </a:r>
            <a:r>
              <a:rPr lang="en-IN" dirty="0"/>
              <a:t> academic content and generates explanations according to the student's learning level.</a:t>
            </a:r>
          </a:p>
          <a:p>
            <a:r>
              <a:rPr lang="en-IN" dirty="0"/>
              <a:t>The system performs different tasks such as </a:t>
            </a:r>
            <a:r>
              <a:rPr lang="en-IN" b="1" dirty="0" err="1"/>
              <a:t>analyzing</a:t>
            </a:r>
            <a:r>
              <a:rPr lang="en-IN" b="1" dirty="0"/>
              <a:t> course content, simplifying explanations, extracting key points, explaining difficult terms, generating examples, and creating quizzes</a:t>
            </a:r>
            <a:r>
              <a:rPr lang="en-IN" dirty="0"/>
              <a:t>.</a:t>
            </a:r>
          </a:p>
          <a:p>
            <a:r>
              <a:rPr lang="en-IN" dirty="0"/>
              <a:t>This approach provides </a:t>
            </a:r>
            <a:r>
              <a:rPr lang="en-IN" b="1" dirty="0"/>
              <a:t>personalized learning</a:t>
            </a:r>
            <a:r>
              <a:rPr lang="en-IN" dirty="0"/>
              <a:t>, as the system adapts the explanation based on the selected proficiency level—</a:t>
            </a:r>
            <a:r>
              <a:rPr lang="en-IN" b="1" dirty="0"/>
              <a:t>Beginner, Intermediate, or Advanced</a:t>
            </a:r>
            <a:r>
              <a:rPr lang="en-IN" dirty="0"/>
              <a:t>.</a:t>
            </a:r>
          </a:p>
          <a:p>
            <a:r>
              <a:rPr lang="en-IN" dirty="0"/>
              <a:t>Agentic AI also provides </a:t>
            </a:r>
            <a:r>
              <a:rPr lang="en-IN" b="1" dirty="0"/>
              <a:t>context awareness</a:t>
            </a:r>
            <a:r>
              <a:rPr lang="en-IN" dirty="0"/>
              <a:t>, using the uploaded course material as context so that the generated explanations and questions remain relevant to the given content.</a:t>
            </a:r>
          </a:p>
          <a:p>
            <a:r>
              <a:rPr lang="en-IN" dirty="0"/>
              <a:t>The system can also perform multiple tasks from the same academic material, helping students understand concepts and test their knowledge through automatically generated MCQs.</a:t>
            </a:r>
          </a:p>
          <a:p>
            <a:r>
              <a:rPr lang="en-IN" dirty="0"/>
              <a:t>Overall, Agentic AI makes the system </a:t>
            </a:r>
            <a:r>
              <a:rPr lang="en-IN" b="1" dirty="0"/>
              <a:t>personalized, context-aware, and learning-focused</a:t>
            </a:r>
            <a:r>
              <a:rPr lang="en-IN" dirty="0"/>
              <a:t>, acting as a </a:t>
            </a:r>
            <a:r>
              <a:rPr lang="en-IN" b="1" dirty="0"/>
              <a:t>smart academic learning assistant</a:t>
            </a:r>
            <a:r>
              <a:rPr lang="en-IN" dirty="0"/>
              <a:t>.</a:t>
            </a:r>
          </a:p>
        </p:txBody>
      </p:sp>
    </p:spTree>
    <p:extLst>
      <p:ext uri="{BB962C8B-B14F-4D97-AF65-F5344CB8AC3E}">
        <p14:creationId xmlns:p14="http://schemas.microsoft.com/office/powerpoint/2010/main" val="40006969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CCA977A3-5FA0-8FF5-E1D1-86C9ED67651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7" name="Picture 6">
            <a:extLst>
              <a:ext uri="{FF2B5EF4-FFF2-40B4-BE49-F238E27FC236}">
                <a16:creationId xmlns:a16="http://schemas.microsoft.com/office/drawing/2014/main" id="{E9F493FA-DC3C-2E10-DF38-06F44A8C5B7F}"/>
              </a:ext>
            </a:extLst>
          </p:cNvPr>
          <p:cNvPicPr>
            <a:picLocks noChangeAspect="1"/>
          </p:cNvPicPr>
          <p:nvPr/>
        </p:nvPicPr>
        <p:blipFill>
          <a:blip r:embed="rId3"/>
          <a:stretch>
            <a:fillRect/>
          </a:stretch>
        </p:blipFill>
        <p:spPr>
          <a:xfrm>
            <a:off x="1335024" y="1013417"/>
            <a:ext cx="9532002" cy="5459645"/>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692D13D-6B69-03D8-BA22-587B943A257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7" name="Picture 6">
            <a:extLst>
              <a:ext uri="{FF2B5EF4-FFF2-40B4-BE49-F238E27FC236}">
                <a16:creationId xmlns:a16="http://schemas.microsoft.com/office/drawing/2014/main" id="{35803141-0E6F-DD26-0EF4-EC95BC6C2290}"/>
              </a:ext>
            </a:extLst>
          </p:cNvPr>
          <p:cNvPicPr>
            <a:picLocks noChangeAspect="1"/>
          </p:cNvPicPr>
          <p:nvPr/>
        </p:nvPicPr>
        <p:blipFill>
          <a:blip r:embed="rId3"/>
          <a:stretch>
            <a:fillRect/>
          </a:stretch>
        </p:blipFill>
        <p:spPr>
          <a:xfrm>
            <a:off x="1218724" y="900015"/>
            <a:ext cx="9754552" cy="5576938"/>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EB55001C-8880-8B09-8704-29D3F62E7A03}"/>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5" name="Picture 4">
            <a:extLst>
              <a:ext uri="{FF2B5EF4-FFF2-40B4-BE49-F238E27FC236}">
                <a16:creationId xmlns:a16="http://schemas.microsoft.com/office/drawing/2014/main" id="{D2016ABB-18FF-B7CF-00DC-8B5C7516FD47}"/>
              </a:ext>
            </a:extLst>
          </p:cNvPr>
          <p:cNvPicPr>
            <a:picLocks noChangeAspect="1"/>
          </p:cNvPicPr>
          <p:nvPr/>
        </p:nvPicPr>
        <p:blipFill>
          <a:blip r:embed="rId3"/>
          <a:stretch>
            <a:fillRect/>
          </a:stretch>
        </p:blipFill>
        <p:spPr>
          <a:xfrm>
            <a:off x="1218724" y="816977"/>
            <a:ext cx="9537460" cy="5457795"/>
          </a:xfrm>
          <a:prstGeom prst="rect">
            <a:avLst/>
          </a:prstGeom>
        </p:spPr>
      </p:pic>
    </p:spTree>
    <p:extLst>
      <p:ext uri="{BB962C8B-B14F-4D97-AF65-F5344CB8AC3E}">
        <p14:creationId xmlns:p14="http://schemas.microsoft.com/office/powerpoint/2010/main" val="26019071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DA716D4-E73B-3D91-4A78-40D39E21CAC6}"/>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D1D1FA2-B5C4-E3CF-480F-3A9EADF1DCEB}"/>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553D0328-B37B-BC1B-3248-108AD6F50BB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7B1CB93-B4FE-68D3-5F57-702664626659}"/>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E22CA3C6-F55E-8FE1-101E-8AC0DABBCD1E}"/>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36903C7F-C96A-5DCB-2E1B-711EC2FEAD14}"/>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a:extLst>
              <a:ext uri="{FF2B5EF4-FFF2-40B4-BE49-F238E27FC236}">
                <a16:creationId xmlns:a16="http://schemas.microsoft.com/office/drawing/2014/main" id="{0C105D5E-D63D-9AC9-EE4A-8BE8D4261BC8}"/>
              </a:ext>
            </a:extLst>
          </p:cNvPr>
          <p:cNvPicPr>
            <a:picLocks noChangeAspect="1"/>
          </p:cNvPicPr>
          <p:nvPr/>
        </p:nvPicPr>
        <p:blipFill>
          <a:blip r:embed="rId3"/>
          <a:stretch>
            <a:fillRect/>
          </a:stretch>
        </p:blipFill>
        <p:spPr>
          <a:xfrm>
            <a:off x="1065439" y="816977"/>
            <a:ext cx="10061122" cy="5778453"/>
          </a:xfrm>
          <a:prstGeom prst="rect">
            <a:avLst/>
          </a:prstGeom>
        </p:spPr>
      </p:pic>
    </p:spTree>
    <p:extLst>
      <p:ext uri="{BB962C8B-B14F-4D97-AF65-F5344CB8AC3E}">
        <p14:creationId xmlns:p14="http://schemas.microsoft.com/office/powerpoint/2010/main" val="38671392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078313"/>
          </a:xfrm>
          <a:prstGeom prst="rect">
            <a:avLst/>
          </a:prstGeom>
          <a:noFill/>
        </p:spPr>
        <p:txBody>
          <a:bodyPr wrap="square" rtlCol="0">
            <a:spAutoFit/>
          </a:bodyPr>
          <a:lstStyle/>
          <a:p>
            <a:r>
              <a:rPr lang="en-IN" sz="1800" dirty="0"/>
              <a:t>The proposed </a:t>
            </a:r>
            <a:r>
              <a:rPr lang="en-IN" sz="1800" b="1" dirty="0"/>
              <a:t>Course Content Simplification Agent</a:t>
            </a:r>
            <a:r>
              <a:rPr lang="en-IN" sz="1800" dirty="0"/>
              <a:t> stands out by combining </a:t>
            </a:r>
            <a:r>
              <a:rPr lang="en-IN" sz="1800" b="1" dirty="0"/>
              <a:t>Agentic AI, RAG, and personalization</a:t>
            </a:r>
            <a:r>
              <a:rPr lang="en-IN" sz="1800" dirty="0"/>
              <a:t> into a single intelligent learning system.</a:t>
            </a:r>
          </a:p>
          <a:p>
            <a:r>
              <a:rPr lang="en-IN" sz="1800" b="1" dirty="0"/>
              <a:t>Personalized Learning</a:t>
            </a:r>
            <a:r>
              <a:rPr lang="en-IN" sz="1800" dirty="0"/>
              <a:t> – Adapts explanations according to the student's level: Beginner, Intermediate, or Advanced.</a:t>
            </a:r>
          </a:p>
          <a:p>
            <a:r>
              <a:rPr lang="en-IN" sz="1800" b="1" dirty="0"/>
              <a:t>RAG-Based Learning</a:t>
            </a:r>
            <a:r>
              <a:rPr lang="en-IN" sz="1800" dirty="0"/>
              <a:t> – Uses the uploaded course material as context to generate relevant and content-based explanations.</a:t>
            </a:r>
          </a:p>
          <a:p>
            <a:r>
              <a:rPr lang="en-IN" sz="1800" b="1" dirty="0"/>
              <a:t>Intelligent Content Simplification</a:t>
            </a:r>
            <a:r>
              <a:rPr lang="en-IN" sz="1800" dirty="0"/>
              <a:t> – Converts complex and jargon-heavy academic content into clear and easy-to-understand explanations.</a:t>
            </a:r>
          </a:p>
          <a:p>
            <a:r>
              <a:rPr lang="en-IN" sz="1800" b="1" dirty="0"/>
              <a:t>Key Point Extraction</a:t>
            </a:r>
            <a:r>
              <a:rPr lang="en-IN" sz="1800" dirty="0"/>
              <a:t> – Identifies the most important concepts from lengthy course materials.</a:t>
            </a:r>
          </a:p>
          <a:p>
            <a:r>
              <a:rPr lang="en-IN" sz="1800" b="1" dirty="0"/>
              <a:t>Difficult Term Explanation</a:t>
            </a:r>
            <a:r>
              <a:rPr lang="en-IN" sz="1800" dirty="0"/>
              <a:t> – Detects technical terms and provides their simple meanings.</a:t>
            </a:r>
          </a:p>
          <a:p>
            <a:r>
              <a:rPr lang="en-IN" sz="1800" b="1" dirty="0"/>
              <a:t>Relevant Examples</a:t>
            </a:r>
            <a:r>
              <a:rPr lang="en-IN" sz="1800" dirty="0"/>
              <a:t> – Generates examples related to the concepts in the provided course content.</a:t>
            </a:r>
          </a:p>
          <a:p>
            <a:r>
              <a:rPr lang="en-IN" sz="1800" b="1" dirty="0"/>
              <a:t>AI-Generated Quiz</a:t>
            </a:r>
            <a:r>
              <a:rPr lang="en-IN" sz="1800" dirty="0"/>
              <a:t> – Creates 5 MCQs from the uploaded content and automatically evaluates the student's answers.</a:t>
            </a:r>
          </a:p>
          <a:p>
            <a:r>
              <a:rPr lang="en-IN" sz="1800" b="1" dirty="0"/>
              <a:t>Multi-Format Input</a:t>
            </a:r>
            <a:r>
              <a:rPr lang="en-IN" sz="1800" dirty="0"/>
              <a:t> – Supports PDF, TXT, and pasted academic text.</a:t>
            </a:r>
          </a:p>
          <a:p>
            <a:r>
              <a:rPr lang="en-IN" sz="1800" b="1" dirty="0"/>
              <a:t>IBM Granite Integration</a:t>
            </a:r>
            <a:r>
              <a:rPr lang="en-IN" sz="1800" dirty="0"/>
              <a:t> – Uses </a:t>
            </a:r>
            <a:r>
              <a:rPr lang="en-IN" sz="1800" b="1" dirty="0"/>
              <a:t>IBM Granite models</a:t>
            </a:r>
            <a:r>
              <a:rPr lang="en-IN" sz="1800" dirty="0"/>
              <a:t> through </a:t>
            </a:r>
            <a:r>
              <a:rPr lang="en-IN" sz="1800" b="1" dirty="0"/>
              <a:t>IBM watsonx.ai</a:t>
            </a:r>
            <a:r>
              <a:rPr lang="en-IN" sz="1800" dirty="0"/>
              <a:t> for content understanding and generation.</a:t>
            </a:r>
          </a:p>
          <a:p>
            <a:r>
              <a:rPr lang="en-IN" sz="1800" dirty="0"/>
              <a:t>This makes the solution a </a:t>
            </a:r>
            <a:r>
              <a:rPr lang="en-IN" sz="1800" b="1" dirty="0"/>
              <a:t>personalized, context-aware, and interactive AI learning assistant</a:t>
            </a:r>
            <a:r>
              <a:rPr lang="en-IN" sz="1800" dirty="0"/>
              <a:t>, rather than just a basic text summarization tool.</a:t>
            </a:r>
          </a:p>
        </p:txBody>
      </p:sp>
    </p:spTree>
    <p:extLst>
      <p:ext uri="{BB962C8B-B14F-4D97-AF65-F5344CB8AC3E}">
        <p14:creationId xmlns:p14="http://schemas.microsoft.com/office/powerpoint/2010/main" val="23252822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p>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Please test and Paste 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 https://github.com/Haveesh333/Course-Content-Simplification-Agent</a:t>
            </a: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Make sure you have Uploaded following three files into your </a:t>
            </a:r>
            <a:r>
              <a:rPr lang="en-US" sz="1850" b="1" dirty="0" err="1">
                <a:solidFill>
                  <a:srgbClr val="2B3541"/>
                </a:solidFill>
                <a:latin typeface="Times New Roman"/>
                <a:ea typeface="Times New Roman"/>
                <a:cs typeface="Times New Roman"/>
                <a:sym typeface="Times New Roman"/>
              </a:rPr>
              <a:t>github</a:t>
            </a:r>
            <a:r>
              <a:rPr lang="en-US" sz="1850" b="1" dirty="0">
                <a:solidFill>
                  <a:srgbClr val="2B3541"/>
                </a:solidFill>
                <a:latin typeface="Times New Roman"/>
                <a:ea typeface="Times New Roman"/>
                <a:cs typeface="Times New Roman"/>
                <a:sym typeface="Times New Roman"/>
              </a:rPr>
              <a:t> repository  </a:t>
            </a:r>
            <a:br>
              <a:rPr lang="en-US" sz="1850" dirty="0">
                <a:solidFill>
                  <a:srgbClr val="2B3541"/>
                </a:solidFill>
                <a:latin typeface="Times New Roman"/>
                <a:ea typeface="Times New Roman"/>
                <a:cs typeface="Times New Roman"/>
                <a:sym typeface="Times New Roman"/>
              </a:rPr>
            </a:br>
            <a:r>
              <a:rPr lang="en-US" sz="1850" dirty="0">
                <a:solidFill>
                  <a:srgbClr val="2B3541"/>
                </a:solidFill>
                <a:latin typeface="Times New Roman"/>
                <a:ea typeface="Times New Roman"/>
                <a:cs typeface="Times New Roman"/>
                <a:sym typeface="Times New Roman"/>
              </a:rPr>
              <a:t>1) All Agent relevant files of IBM Cloud , 2) yourproblemstatement.pdf file  3) your projectpresntation.pptx file 4)any other files </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404122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r>
              <a:rPr lang="en-IN" sz="1800" b="1" dirty="0"/>
              <a:t>1. Integration with Learning Management Systems (LMS)</a:t>
            </a:r>
            <a:r>
              <a:rPr lang="en-IN" sz="1800" dirty="0"/>
              <a:t> –</a:t>
            </a:r>
            <a:br>
              <a:rPr lang="en-IN" sz="1800" dirty="0"/>
            </a:br>
            <a:r>
              <a:rPr lang="en-IN" sz="1800" dirty="0"/>
              <a:t>The system can be integrated with platforms such as learning management systems to directly access course materials, assignments, and study resources. This will make personalized content simplification more convenient for students.</a:t>
            </a:r>
          </a:p>
          <a:p>
            <a:r>
              <a:rPr lang="en-IN" sz="1800" b="1" dirty="0"/>
              <a:t>2. Multilingual Support &amp; Voice Assistant</a:t>
            </a:r>
            <a:r>
              <a:rPr lang="en-IN" sz="1800" dirty="0"/>
              <a:t> –</a:t>
            </a:r>
            <a:br>
              <a:rPr lang="en-IN" sz="1800" dirty="0"/>
            </a:br>
            <a:r>
              <a:rPr lang="en-IN" sz="1800" dirty="0"/>
              <a:t>Future versions can support multiple languages and voice-based interaction. This will improve accessibility and allow students to learn complex concepts through their preferred language and speaking mode.</a:t>
            </a:r>
          </a:p>
          <a:p>
            <a:r>
              <a:rPr lang="en-IN" sz="1800" b="1" dirty="0"/>
              <a:t>3. Personalized Learning Progress Tracking</a:t>
            </a:r>
            <a:r>
              <a:rPr lang="en-IN" sz="1800" dirty="0"/>
              <a:t> –</a:t>
            </a:r>
            <a:br>
              <a:rPr lang="en-IN" sz="1800" dirty="0"/>
            </a:br>
            <a:r>
              <a:rPr lang="en-IN" sz="1800" dirty="0"/>
              <a:t>The system can track student performance, quiz scores, and learning progress to provide more personalized explanations and identify topics that require additional attention.</a:t>
            </a:r>
          </a:p>
          <a:p>
            <a:r>
              <a:rPr lang="en-IN" sz="1800" b="1" dirty="0"/>
              <a:t>4. Advanced Interactive Learning</a:t>
            </a:r>
            <a:r>
              <a:rPr lang="en-IN" sz="1800" dirty="0"/>
              <a:t> –</a:t>
            </a:r>
            <a:br>
              <a:rPr lang="en-IN" sz="1800" dirty="0"/>
            </a:br>
            <a:r>
              <a:rPr lang="en-IN" sz="1800" dirty="0"/>
              <a:t>Future versions can generate flashcards, diagrams, concept maps, and practice questions from course materials, making learning more interactive and engaging.</a:t>
            </a:r>
          </a:p>
          <a:p>
            <a:r>
              <a:rPr lang="en-IN" sz="1800" b="1" dirty="0"/>
              <a:t>5. Wider Academic Content Support</a:t>
            </a:r>
            <a:r>
              <a:rPr lang="en-IN" sz="1800" dirty="0"/>
              <a:t> –</a:t>
            </a:r>
            <a:br>
              <a:rPr lang="en-IN" sz="1800" dirty="0"/>
            </a:br>
            <a:r>
              <a:rPr lang="en-IN" sz="1800" dirty="0"/>
              <a:t>The agent can be extended to handle textbooks, lecture notes, research papers, and other academic resources while adapting explanations to different educational levels.</a:t>
            </a: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400284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1145313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Please  add your </a:t>
            </a:r>
            <a:r>
              <a:rPr lang="en-US" sz="2400" b="1" dirty="0" err="1"/>
              <a:t>credly</a:t>
            </a:r>
            <a:r>
              <a:rPr lang="en-US" sz="2400" b="1" dirty="0"/>
              <a:t> certificate(Getting Started with Artificial Intelligence)  </a:t>
            </a:r>
          </a:p>
        </p:txBody>
      </p:sp>
      <p:pic>
        <p:nvPicPr>
          <p:cNvPr id="4" name="Picture 3">
            <a:extLst>
              <a:ext uri="{FF2B5EF4-FFF2-40B4-BE49-F238E27FC236}">
                <a16:creationId xmlns:a16="http://schemas.microsoft.com/office/drawing/2014/main" id="{CD70766A-DB75-1487-C094-7E1839638AFB}"/>
              </a:ext>
            </a:extLst>
          </p:cNvPr>
          <p:cNvPicPr>
            <a:picLocks noChangeAspect="1"/>
          </p:cNvPicPr>
          <p:nvPr/>
        </p:nvPicPr>
        <p:blipFill>
          <a:blip r:embed="rId2"/>
          <a:stretch>
            <a:fillRect/>
          </a:stretch>
        </p:blipFill>
        <p:spPr>
          <a:xfrm>
            <a:off x="2444558" y="1353725"/>
            <a:ext cx="6795695" cy="5296895"/>
          </a:xfrm>
          <a:prstGeom prst="rect">
            <a:avLst/>
          </a:prstGeom>
        </p:spPr>
      </p:pic>
    </p:spTree>
    <p:extLst>
      <p:ext uri="{BB962C8B-B14F-4D97-AF65-F5344CB8AC3E}">
        <p14:creationId xmlns:p14="http://schemas.microsoft.com/office/powerpoint/2010/main" val="28334827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pic>
        <p:nvPicPr>
          <p:cNvPr id="3" name="Picture 2">
            <a:extLst>
              <a:ext uri="{FF2B5EF4-FFF2-40B4-BE49-F238E27FC236}">
                <a16:creationId xmlns:a16="http://schemas.microsoft.com/office/drawing/2014/main" id="{57EDF559-58E3-3400-7DEC-9F85D6743AE1}"/>
              </a:ext>
            </a:extLst>
          </p:cNvPr>
          <p:cNvPicPr>
            <a:picLocks noChangeAspect="1"/>
          </p:cNvPicPr>
          <p:nvPr/>
        </p:nvPicPr>
        <p:blipFill>
          <a:blip r:embed="rId2"/>
          <a:stretch>
            <a:fillRect/>
          </a:stretch>
        </p:blipFill>
        <p:spPr>
          <a:xfrm>
            <a:off x="1942616" y="1267328"/>
            <a:ext cx="8660160" cy="5364281"/>
          </a:xfrm>
          <a:prstGeom prst="rect">
            <a:avLst/>
          </a:prstGeom>
        </p:spPr>
      </p:pic>
    </p:spTree>
    <p:extLst>
      <p:ext uri="{BB962C8B-B14F-4D97-AF65-F5344CB8AC3E}">
        <p14:creationId xmlns:p14="http://schemas.microsoft.com/office/powerpoint/2010/main" val="41751777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44</TotalTime>
  <Words>1652</Words>
  <Application>Microsoft Office PowerPoint</Application>
  <PresentationFormat>Widescreen</PresentationFormat>
  <Paragraphs>130</Paragraphs>
  <Slides>19</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Haveesh Chowdary Kante</cp:lastModifiedBy>
  <cp:revision>3</cp:revision>
  <dcterms:created xsi:type="dcterms:W3CDTF">2025-07-08T05:06:56Z</dcterms:created>
  <dcterms:modified xsi:type="dcterms:W3CDTF">2026-09-11T18:35:58Z</dcterms:modified>
</cp:coreProperties>
</file>